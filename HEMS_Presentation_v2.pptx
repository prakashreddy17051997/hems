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67" r:id="rId4"/>
    <p:sldId id="266" r:id="rId5"/>
    <p:sldId id="260" r:id="rId6"/>
    <p:sldId id="265" r:id="rId7"/>
    <p:sldId id="261" r:id="rId8"/>
    <p:sldId id="262" r:id="rId9"/>
    <p:sldId id="263" r:id="rId10"/>
    <p:sldId id="264" r:id="rId11"/>
    <p:sldId id="259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F39"/>
    <a:srgbClr val="4A5B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9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846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FE4C2-C77E-AE72-861B-5C1EEA68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4B0ED-CAC7-87E6-8303-7152E299C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B2563-D61B-5D77-B3FB-DAFC556B3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0000C-D7F7-20C9-4DFC-08FD4FCB3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05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8702-FA7C-25A5-DCFC-B1CD7FD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B5B6F-4BDB-FD63-5998-A0DEA396A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9F18D-4AD8-6E70-9F15-9AF18CA64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401E0-9B9C-012F-E5AE-7093F5624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57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4875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26644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4325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5137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8072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8463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3538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1401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770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0306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7028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70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743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Energy Management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Prognosebasierte Optimierung &amp; Model Predictive Control
</a:t>
            </a: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Forecast-Based Optimization &amp; Model Predictive Control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Wärmepumpe · Batteriespeicher · E-Auto · schaltbare Lasten
</a:t>
            </a:r>
            <a:r>
              <a:rPr lang="en-US" sz="1300" i="1" dirty="0">
                <a:solidFill>
                  <a:srgbClr val="A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· battery · EV · shiftable loads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R2024b · Simulink · Optimization Toolbox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Aufgabe  </a:t>
            </a: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/ Goal
</a:t>
            </a:r>
            <a:r>
              <a:rPr lang="en-US" sz="12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Tagesstromkosten minimieren bei eingehaltenem Komfort.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daily electricity cost while keeping comfort.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578608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Flexibilität / Flexibility
</a:t>
            </a:r>
            <a:r>
              <a:rPr lang="en-US" sz="12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Wärmepumpe, Batterie, E-Auto und Geräte zeitlich verschieben.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heat pump, battery, EV and appliances in time.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785616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 / Signals
</a:t>
            </a:r>
            <a:r>
              <a:rPr lang="en-US" sz="12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Dynamischer Strompreis, PV-Prognose, Außentemperatur.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price, PV forecast, outdoor temperature.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03834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5038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992624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 / Challenge
</a:t>
            </a:r>
            <a:r>
              <a:rPr lang="en-US" sz="12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Prognosen sind unsicher — Regelung muss robust sein.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are uncertain — control must be robust.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 — Forecast-Based Optimization &amp; MPC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Simulationsarchitektur  </a:t>
            </a: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 Simulation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die drei Vergleichslinien erzeugt werden  /  how the three comparison lines are produced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2788920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Prognose-Inputs
</a:t>
            </a: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Preis, PV, T_out, Lasten
</a:t>
            </a:r>
            <a:r>
              <a:rPr lang="en-US" sz="950" i="1" dirty="0">
                <a:solidFill>
                  <a:srgbClr val="A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PV, weather, loads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971800" y="1417320"/>
            <a:ext cx="3108960" cy="1051560"/>
          </a:xfrm>
          <a:prstGeom prst="roundRect">
            <a:avLst>
              <a:gd name="adj" fmla="val 5217"/>
            </a:avLst>
          </a:prstGeom>
          <a:solidFill>
            <a:srgbClr val="F2F6F7"/>
          </a:solidFill>
          <a:ln w="19050">
            <a:solidFill>
              <a:srgbClr val="5A6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63240" y="141732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Regelbasiert
</a:t>
            </a:r>
            <a:r>
              <a:rPr lang="en-US" sz="9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regelbasierter Thermostat
</a:t>
            </a:r>
            <a:r>
              <a:rPr lang="en-US" sz="95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controller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EAF1F2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41732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Simulink-Strecke
</a:t>
            </a:r>
            <a:r>
              <a:rPr lang="en-US" sz="9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volles Modell
</a:t>
            </a:r>
            <a:r>
              <a:rPr lang="en-US" sz="95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71800" y="2788920"/>
            <a:ext cx="3108960" cy="1051560"/>
          </a:xfrm>
          <a:prstGeom prst="roundRect">
            <a:avLst>
              <a:gd name="adj" fmla="val 5217"/>
            </a:avLst>
          </a:prstGeom>
          <a:solidFill>
            <a:srgbClr val="F2F6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63240" y="278892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Optimiert — LP (Single-Shot)
</a:t>
            </a:r>
            <a:r>
              <a:rPr lang="en-US" sz="9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Tagesfahrplan aus linprog
</a:t>
            </a:r>
            <a:r>
              <a:rPr lang="en-US" sz="95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 LP schedule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0" y="278892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EAF1F2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278892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Simulink-Strecke
</a:t>
            </a:r>
            <a:r>
              <a:rPr lang="en-US" sz="9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gleiches Modell wie Baseline
</a:t>
            </a:r>
            <a:r>
              <a:rPr lang="en-US" sz="95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plant as baseline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971800" y="4480560"/>
            <a:ext cx="3108960" cy="1051560"/>
          </a:xfrm>
          <a:prstGeom prst="roundRect">
            <a:avLst>
              <a:gd name="adj" fmla="val 5217"/>
            </a:avLst>
          </a:prstGeom>
          <a:solidFill>
            <a:srgbClr val="F2F6F7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63240" y="448056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— Receding Horizon
</a:t>
            </a:r>
            <a:r>
              <a:rPr lang="en-US" sz="9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löst jeden Schritt neu, am Messzustand
</a:t>
            </a:r>
            <a:r>
              <a:rPr lang="en-US" sz="95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re-solves each step, re-anchored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448056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E9F6F2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44805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Leichtmodell + Prognosefehler
</a:t>
            </a:r>
            <a:r>
              <a:rPr lang="en-US" sz="9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1R1C, −3 °C Fehler
</a:t>
            </a:r>
            <a:r>
              <a:rPr lang="en-US" sz="95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1R1C, −3 °C error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189720" y="278892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81160" y="27889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Drei-Wege-Vergleich
</a:t>
            </a: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T_in · Kosten · SoC · Last
</a:t>
            </a:r>
            <a:r>
              <a:rPr lang="en-US" sz="950" i="1" dirty="0">
                <a:solidFill>
                  <a:srgbClr val="A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comparison figure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777947" y="1943100"/>
            <a:ext cx="21946" cy="3063240"/>
          </a:xfrm>
          <a:prstGeom prst="rect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468880" y="3418027"/>
            <a:ext cx="320040" cy="21946"/>
          </a:xfrm>
          <a:prstGeom prst="rect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88920" y="1932127"/>
            <a:ext cx="182880" cy="21946"/>
          </a:xfrm>
          <a:prstGeom prst="rect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rot="5400000">
            <a:off x="2916936" y="1897380"/>
            <a:ext cx="82296" cy="91440"/>
          </a:xfrm>
          <a:prstGeom prst="triangle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88920" y="3303727"/>
            <a:ext cx="182880" cy="21946"/>
          </a:xfrm>
          <a:prstGeom prst="rect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rot="5400000">
            <a:off x="2916936" y="3268980"/>
            <a:ext cx="82296" cy="91440"/>
          </a:xfrm>
          <a:prstGeom prst="triangle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88920" y="4995367"/>
            <a:ext cx="182880" cy="21946"/>
          </a:xfrm>
          <a:prstGeom prst="rect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rot="5400000">
            <a:off x="2916936" y="4960620"/>
            <a:ext cx="82296" cy="91440"/>
          </a:xfrm>
          <a:prstGeom prst="triangle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80760" y="1932127"/>
            <a:ext cx="320040" cy="2194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rot="5400000">
            <a:off x="6345936" y="1897380"/>
            <a:ext cx="82296" cy="91440"/>
          </a:xfrm>
          <a:prstGeom prst="triangl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80760" y="3303727"/>
            <a:ext cx="320040" cy="2194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rot="5400000">
            <a:off x="6345936" y="3268980"/>
            <a:ext cx="82296" cy="91440"/>
          </a:xfrm>
          <a:prstGeom prst="triangl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80760" y="4995367"/>
            <a:ext cx="320040" cy="21946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rot="5400000">
            <a:off x="6345936" y="4960620"/>
            <a:ext cx="82296" cy="91440"/>
          </a:xfrm>
          <a:prstGeom prst="triangl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869680" y="1932127"/>
            <a:ext cx="137160" cy="21946"/>
          </a:xfrm>
          <a:prstGeom prst="rect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869680" y="3303727"/>
            <a:ext cx="137160" cy="21946"/>
          </a:xfrm>
          <a:prstGeom prst="rect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869680" y="4995367"/>
            <a:ext cx="137160" cy="21946"/>
          </a:xfrm>
          <a:prstGeom prst="rect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995867" y="1943100"/>
            <a:ext cx="21946" cy="3063240"/>
          </a:xfrm>
          <a:prstGeom prst="rect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006840" y="3418027"/>
            <a:ext cx="182880" cy="21946"/>
          </a:xfrm>
          <a:prstGeom prst="rect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rot="5400000">
            <a:off x="9134856" y="3383280"/>
            <a:ext cx="82296" cy="91440"/>
          </a:xfrm>
          <a:prstGeom prst="triangle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02920" y="5806440"/>
            <a:ext cx="11155680" cy="658368"/>
          </a:xfrm>
          <a:prstGeom prst="roundRect">
            <a:avLst>
              <a:gd name="adj" fmla="val 6944"/>
            </a:avLst>
          </a:prstGeom>
          <a:solidFill>
            <a:srgbClr val="F2F6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585216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Optimiert teilen dieselbe Simulink-Strecke und Prognose → sauberer Kostenvergleich.  MPC nutzt ein Leichtmodell mit Prognosefehler → zeigt Robustheit, nicht direkt kostenvergleichbar.
</a:t>
            </a:r>
            <a:r>
              <a:rPr lang="en-US" sz="9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Optimized share the same Simulink plant and forecast → clean cost comparison.  MPC uses a lightweight plant with forecast error → shows robustness, not directly cost-comparable.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 — Forecast-Based Optimization &amp; MPC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649A8-0E79-FACD-2E2D-55F78F532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E9ACF1-905A-7346-F3A0-90391297BA24}"/>
              </a:ext>
            </a:extLst>
          </p:cNvPr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Simulink Model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630F12-EA9A-B017-2606-D3442CE741E8}"/>
              </a:ext>
            </a:extLst>
          </p:cNvPr>
          <p:cNvSpPr/>
          <p:nvPr/>
        </p:nvSpPr>
        <p:spPr>
          <a:xfrm>
            <a:off x="91439" y="1325880"/>
            <a:ext cx="7360921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MATLAB-Abbildung einfügen / insert MATLAB figure ]
</a:t>
            </a:r>
            <a:r>
              <a:rPr lang="en-US" sz="10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hems_model.slx — Simulink-Gesamtmodell / full Simulink model (Screenshot)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F861D37-AF68-0006-A618-9D53A561D377}"/>
              </a:ext>
            </a:extLst>
          </p:cNvPr>
          <p:cNvSpPr/>
          <p:nvPr/>
        </p:nvSpPr>
        <p:spPr>
          <a:xfrm>
            <a:off x="9061622" y="1417320"/>
            <a:ext cx="2596978" cy="1078992"/>
          </a:xfrm>
          <a:prstGeom prst="roundRect">
            <a:avLst>
              <a:gd name="adj" fmla="val 6780"/>
            </a:avLst>
          </a:prstGeom>
          <a:solidFill>
            <a:srgbClr val="F2F6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6EA263-F414-3699-80F7-5CFF0853F3CE}"/>
              </a:ext>
            </a:extLst>
          </p:cNvPr>
          <p:cNvSpPr/>
          <p:nvPr/>
        </p:nvSpPr>
        <p:spPr>
          <a:xfrm>
            <a:off x="9061622" y="1417320"/>
            <a:ext cx="245981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Regler / Controller 
</a:t>
            </a:r>
            <a:r>
              <a:rPr lang="en-US" sz="105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entscheidet WANN &amp; WAS läuft</a:t>
            </a:r>
            <a:endParaRPr lang="en-US" sz="1300" dirty="0"/>
          </a:p>
          <a:p>
            <a:pPr marL="0" indent="0">
              <a:buNone/>
            </a:pPr>
            <a:r>
              <a:rPr lang="en-US" sz="105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WHEN &amp; WHAT runs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C6DC9C1-D883-9166-F209-F36B5DB4B0F7}"/>
              </a:ext>
            </a:extLst>
          </p:cNvPr>
          <p:cNvSpPr/>
          <p:nvPr/>
        </p:nvSpPr>
        <p:spPr>
          <a:xfrm>
            <a:off x="9061620" y="2606040"/>
            <a:ext cx="2596979" cy="1078992"/>
          </a:xfrm>
          <a:prstGeom prst="roundRect">
            <a:avLst>
              <a:gd name="adj" fmla="val 6780"/>
            </a:avLst>
          </a:prstGeom>
          <a:solidFill>
            <a:srgbClr val="F2F6F7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1245CD8-97D1-F793-BEC0-E9F7020DDBA5}"/>
              </a:ext>
            </a:extLst>
          </p:cNvPr>
          <p:cNvSpPr/>
          <p:nvPr/>
        </p:nvSpPr>
        <p:spPr>
          <a:xfrm>
            <a:off x="9061622" y="2606040"/>
            <a:ext cx="245981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 err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Strecke</a:t>
            </a: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Plant 
</a:t>
            </a:r>
            <a:r>
              <a:rPr lang="en-US" sz="105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1R1C-Gebäude, Speicher, Batterie</a:t>
            </a:r>
            <a:endParaRPr lang="en-US" sz="1300" dirty="0"/>
          </a:p>
          <a:p>
            <a:pPr marL="0" indent="0">
              <a:buNone/>
            </a:pPr>
            <a:r>
              <a:rPr lang="en-US" sz="105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1R1C building, tank, battery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7D3D99F-201B-A54A-306A-310B2D3F996F}"/>
              </a:ext>
            </a:extLst>
          </p:cNvPr>
          <p:cNvSpPr/>
          <p:nvPr/>
        </p:nvSpPr>
        <p:spPr>
          <a:xfrm>
            <a:off x="9061620" y="3794760"/>
            <a:ext cx="2596980" cy="1078992"/>
          </a:xfrm>
          <a:prstGeom prst="roundRect">
            <a:avLst>
              <a:gd name="adj" fmla="val 6780"/>
            </a:avLst>
          </a:prstGeom>
          <a:solidFill>
            <a:srgbClr val="F2F6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3350B64-83CC-AC2B-1115-AF0485C3B4AB}"/>
              </a:ext>
            </a:extLst>
          </p:cNvPr>
          <p:cNvSpPr/>
          <p:nvPr/>
        </p:nvSpPr>
        <p:spPr>
          <a:xfrm>
            <a:off x="9061618" y="3794760"/>
            <a:ext cx="2459821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Energiebilanz / Balance
</a:t>
            </a:r>
            <a:r>
              <a:rPr lang="en-US" sz="105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P_grid = P_load − P_pv + P_bat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4A9F04-881D-43C7-9FE8-64810A39A708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 — Forecast-Based Optimization &amp; MPC</a:t>
            </a:r>
            <a:endParaRPr lang="en-US" sz="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37AC55C-B5D3-DE84-8F6B-78E8F81470C9}"/>
              </a:ext>
            </a:extLst>
          </p:cNvPr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39F03B-2E73-EE1F-4BF1-6E2FBCE2F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36" y="1454727"/>
            <a:ext cx="8753128" cy="407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53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Inputs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0" y="137160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0" y="150876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 / Signals
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Dynamischer Strompreis, PV-Prognose und Außentemperatur als Eingang.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price, PV forecast and outdoor temperature as inputs.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0" y="374904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2F6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0" y="3886200"/>
            <a:ext cx="29260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Lasten / Loads
</a:t>
            </a:r>
            <a:r>
              <a:rPr lang="en-US" sz="11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Grundlast, Warmwasserzapfung und Hochpreis-Perioden.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load, hot-water draw and peak-price periods.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 — Forecast-Based Optimization &amp; MPC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F5BAAC-CF50-22D6-6F45-B96E0CFB2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39952"/>
            <a:ext cx="71120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A5D7F3-A4CA-A93B-7602-1A53EE8DA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CFB088-9825-8C93-A756-E82B71E195D9}"/>
              </a:ext>
            </a:extLst>
          </p:cNvPr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Optimierter Fahrplan  </a:t>
            </a: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 Optimized Schedule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33EC19C-F68E-C326-1E7F-B02DA03ACD19}"/>
              </a:ext>
            </a:extLst>
          </p:cNvPr>
          <p:cNvSpPr/>
          <p:nvPr/>
        </p:nvSpPr>
        <p:spPr>
          <a:xfrm>
            <a:off x="8412480" y="137160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A2EA2C-F274-B8EF-6CDC-34D7DDC8766E}"/>
              </a:ext>
            </a:extLst>
          </p:cNvPr>
          <p:cNvSpPr/>
          <p:nvPr/>
        </p:nvSpPr>
        <p:spPr>
          <a:xfrm>
            <a:off x="8595360" y="150876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Kernverhalten
Key behavior
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E-Auto lädt nachts/solar, nicht im Peak.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charges overnight/solar, not in peak.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C43EB08-3F88-339C-F7BF-CBD4231F4CD4}"/>
              </a:ext>
            </a:extLst>
          </p:cNvPr>
          <p:cNvSpPr/>
          <p:nvPr/>
        </p:nvSpPr>
        <p:spPr>
          <a:xfrm>
            <a:off x="8412480" y="374904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2F6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226451E-30B1-B2EE-6A37-1EF17F665D8B}"/>
              </a:ext>
            </a:extLst>
          </p:cNvPr>
          <p:cNvSpPr/>
          <p:nvPr/>
        </p:nvSpPr>
        <p:spPr>
          <a:xfrm>
            <a:off x="8595360" y="3886200"/>
            <a:ext cx="29260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Gebäude als Speicher
Building as storage
</a:t>
            </a:r>
            <a:r>
              <a:rPr lang="en-US" sz="11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Vorheizen in günstigen Stunden, Coasting im Peak.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Pre-heat in cheap hours, coast through peak.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5A6507E-76F6-EF91-899B-EA7045BF9C7D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 — Forecast-Based Optimization &amp; MPC</a:t>
            </a:r>
            <a:endParaRPr lang="en-US" sz="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0131379-F93B-5808-8568-CEFC4FB957E1}"/>
              </a:ext>
            </a:extLst>
          </p:cNvPr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387AF5-1D0D-F8D8-F3E1-DC83B2C83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22" y="1038779"/>
            <a:ext cx="7263938" cy="544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Predictive Control  </a:t>
            </a: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 MPC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Lösen / Solve  —  </a:t>
            </a:r>
            <a:r>
              <a:rPr lang="en-US" sz="11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über Resthorizont, am Messzustand verankert / over remaining horizon, anchored at measured state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Anwenden / Apply  —  </a:t>
            </a:r>
            <a:r>
              <a:rPr lang="en-US" sz="11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ersten Stellschritt / only the first control move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1089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Fortschreiten / Advance  —  </a:t>
            </a:r>
            <a:r>
              <a:rPr lang="en-US" sz="11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 Strecke einen Schritt / real plant one step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9776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Wiederholen / Repeat  —  </a:t>
            </a:r>
            <a:r>
              <a:rPr lang="en-US" sz="11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messen, neu lösen / re-measure, re-solve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50749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Re-Anchoring am Messzustand unterscheidet echte MPC vom Abspielen eines Plans. Komfort als weiche Nebenbedingung (Schlupf + Strafterm) sichert Lösbarkeit.
</a:t>
            </a: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Re-anchoring to the measured state distinguishes true MPC from replaying a plan. Soft comfort constraints (slack + penalty) guarantee feasibility.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 — Forecast-Based Optimization &amp; MPC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Robustheit gegen Prognosefehler  </a:t>
            </a: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 Robustness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5895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MATLAB-Abbildung einfügen / insert MATLAB figure ]
</a:t>
            </a:r>
            <a:r>
              <a:rPr lang="en-US" sz="10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hems_mpc — T_in: MPC (im Band) vs Single-Shot (driftet) bei −3 °C (Screenshot)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412480" y="13716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0" y="1371600"/>
            <a:ext cx="3246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
</a:t>
            </a:r>
            <a:r>
              <a:rPr lang="en-US" sz="4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96
</a:t>
            </a: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Komfortverletzungen / comfort violations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0" y="379476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E8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0" y="3794760"/>
            <a:ext cx="3246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
</a:t>
            </a:r>
            <a:r>
              <a:rPr lang="en-US" sz="400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96
</a:t>
            </a:r>
            <a:r>
              <a:rPr lang="en-US" sz="11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Komfortverletzungen / comfort violations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 — Forecast-Based Optimization &amp; MPC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72F590-4381-D29A-0A96-97C3801AA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73" y="1200912"/>
            <a:ext cx="7028872" cy="5271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Drei-Wege-Vergleich  </a:t>
            </a: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 Three-Way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38160" y="13716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2F6F7"/>
          </a:solidFill>
          <a:ln w="19050">
            <a:solidFill>
              <a:srgbClr val="5A6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5320" y="148132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38160" y="175564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€23.04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138160" y="278892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2F6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75320" y="289864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0" y="317296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€8.28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138160" y="42062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2F6F7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75320" y="431596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MPC*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0" y="459028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€4.98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138160" y="57150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−64 % </a:t>
            </a: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Optimized (gleiche Strecke / same plant)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 — Forecast-Based Optimization &amp; MPC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194DFA7-9F8E-2B74-E6F5-4E38D262E6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42" t="3537" r="7270" b="1935"/>
          <a:stretch>
            <a:fillRect/>
          </a:stretch>
        </p:blipFill>
        <p:spPr>
          <a:xfrm>
            <a:off x="1192414" y="1205119"/>
            <a:ext cx="5610814" cy="51598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Erkenntnisse  </a:t>
            </a: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60934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Lastverschiebung (v. a. E-Auto) aus dem Peak = größter Hebel / load shifting out of peak = biggest lever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2359152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30428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Gebäude als thermischer Speicher genutzt / building used as thermal storage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10896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Re-Anchoring am Messzustand = Kern der MPC / re-anchoring = core of MPC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858768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80390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Weiche Komfortgrenzen sichern Lösbarkeit / soft comfort limits ensure feasibility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608576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45537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Modellabweichung motiviert die MPC / model mismatch motivates MPC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5358384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0" y="53035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muss zur Problemstruktur passen / solver must match problem structure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R2024b · Simulink · Optimization Toolbox · linprog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Optimierung  </a:t>
            </a: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 Optimization (LP)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Lineares Programm — Minimierung der Tagesstromkosten
</a:t>
            </a:r>
            <a:r>
              <a:rPr lang="en-US" sz="13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program — minimize daily electricity cost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9728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Variablen / Variables 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P_hp_heat, P_hp_dhw, P_ev, P_ch, P_dis, P_grid, P_exp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90088"/>
            <a:ext cx="109728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99008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Schlüsseltrick / Key trick 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WP-Leistung linear aufgeteilt → Problem bleibt LP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power split linearly → problem stays an LP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014216"/>
            <a:ext cx="109728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4014216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Nebenbedingungen / Constraints 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Energiebilanz, 1R1C-Dynamik, SoC, Komfortband, E-Auto-Energie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1R1C dynamics, SoC, comfort band, EV energy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038344"/>
            <a:ext cx="109728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5038344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linprog (Optimization Toolbox), optimproblem-Framework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 — Forecast-Based Optimization &amp; MPC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2222</TotalTime>
  <Words>974</Words>
  <Application>Microsoft Macintosh PowerPoint</Application>
  <PresentationFormat>Widescreen</PresentationFormat>
  <Paragraphs>115</Paragraphs>
  <Slides>11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Georgia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ms004638@mslic.uni-kl.de</cp:lastModifiedBy>
  <cp:revision>10</cp:revision>
  <dcterms:created xsi:type="dcterms:W3CDTF">2026-06-08T20:09:58Z</dcterms:created>
  <dcterms:modified xsi:type="dcterms:W3CDTF">2026-06-10T09:32:30Z</dcterms:modified>
</cp:coreProperties>
</file>